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handoutMasterIdLst>
    <p:handoutMasterId r:id="rId11"/>
  </p:handoutMasterIdLst>
  <p:sldIdLst>
    <p:sldId id="342" r:id="rId5"/>
    <p:sldId id="289" r:id="rId6"/>
    <p:sldId id="343" r:id="rId7"/>
    <p:sldId id="344" r:id="rId8"/>
    <p:sldId id="34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1EB13-4B4A-3A65-7705-B39B10420BC6}" v="11" dt="2025-11-07T13:21:13.889"/>
    <p1510:client id="{94404E7A-4EB2-D0DE-A758-3B2FEF7E6025}" v="1178" dt="2025-11-07T14:31:40.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7" d="100"/>
          <a:sy n="77" d="100"/>
        </p:scale>
        <p:origin x="883" y="82"/>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02/12/2025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02/12/2025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16483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24</a:t>
            </a:r>
            <a:r>
              <a:rPr lang="en-US" sz="2200" baseline="30000" dirty="0"/>
              <a:t>th</a:t>
            </a:r>
            <a:r>
              <a:rPr lang="en-US" sz="2200" dirty="0"/>
              <a:t> Nov 2025 </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dirty="0"/>
              <a:t>Group Name: A 184                                                 Name of Student Presenting: </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Group A 184                    Names of Student Attendees : Durga Sai </a:t>
            </a:r>
            <a:r>
              <a:rPr lang="en-GB" dirty="0" err="1"/>
              <a:t>Gonnuri</a:t>
            </a:r>
            <a:r>
              <a:rPr lang="en-GB" dirty="0"/>
              <a:t>, Shivaram </a:t>
            </a:r>
            <a:r>
              <a:rPr lang="en-GB" dirty="0" err="1"/>
              <a:t>Jillepally</a:t>
            </a:r>
            <a:r>
              <a:rPr lang="en-GB" dirty="0"/>
              <a:t>, Swarna Lalitha Mahalakshmi Kommana, Sushmitha Muthe, Manideep </a:t>
            </a:r>
            <a:r>
              <a:rPr lang="en-GB" dirty="0" err="1"/>
              <a:t>javvaji</a:t>
            </a:r>
            <a:r>
              <a:rPr lang="en-GB" dirty="0"/>
              <a:t>.</a:t>
            </a:r>
          </a:p>
        </p:txBody>
      </p:sp>
    </p:spTree>
    <p:extLst>
      <p:ext uri="{BB962C8B-B14F-4D97-AF65-F5344CB8AC3E}">
        <p14:creationId xmlns:p14="http://schemas.microsoft.com/office/powerpoint/2010/main" val="4148532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B1A8B-0CAB-EBDB-5E8A-B88CA7DB5F49}"/>
              </a:ext>
            </a:extLst>
          </p:cNvPr>
          <p:cNvSpPr>
            <a:spLocks noGrp="1"/>
          </p:cNvSpPr>
          <p:nvPr>
            <p:ph type="title"/>
          </p:nvPr>
        </p:nvSpPr>
        <p:spPr>
          <a:xfrm>
            <a:off x="954000" y="775255"/>
            <a:ext cx="8867333" cy="365125"/>
          </a:xfrm>
        </p:spPr>
        <p:txBody>
          <a:bodyPr/>
          <a:lstStyle/>
          <a:p>
            <a:r>
              <a:rPr lang="en-IN" dirty="0"/>
              <a:t>Sample of DS – 238 ( Churn Modeling.CSV)</a:t>
            </a:r>
          </a:p>
        </p:txBody>
      </p:sp>
      <p:sp>
        <p:nvSpPr>
          <p:cNvPr id="3" name="Content Placeholder 2">
            <a:extLst>
              <a:ext uri="{FF2B5EF4-FFF2-40B4-BE49-F238E27FC236}">
                <a16:creationId xmlns:a16="http://schemas.microsoft.com/office/drawing/2014/main" id="{87039567-4B73-7536-B79A-6AD1C8A5B76B}"/>
              </a:ext>
            </a:extLst>
          </p:cNvPr>
          <p:cNvSpPr>
            <a:spLocks noGrp="1"/>
          </p:cNvSpPr>
          <p:nvPr>
            <p:ph idx="1"/>
          </p:nvPr>
        </p:nvSpPr>
        <p:spPr>
          <a:xfrm>
            <a:off x="954000" y="1441174"/>
            <a:ext cx="10823870" cy="4633471"/>
          </a:xfrm>
        </p:spPr>
        <p:txBody>
          <a:bodyPr/>
          <a:lstStyle/>
          <a:p>
            <a:r>
              <a:rPr lang="en-US" b="1" dirty="0"/>
              <a:t>Summary of our dataset: Bank Customer Churn (DS238)</a:t>
            </a:r>
          </a:p>
          <a:p>
            <a:r>
              <a:rPr lang="en-US" dirty="0"/>
              <a:t>This dataset contains information about 10,000 bank customers, including demographic details, financial indicators, and whether the customer exited the bank. It is meaningful because it allows us to analyze churn behavior and understand which financial factors may influence a customer’s decision to leave the bank.</a:t>
            </a:r>
          </a:p>
          <a:p>
            <a:r>
              <a:rPr lang="en-IN" dirty="0"/>
              <a:t>The column/ variable name which we are including in our Research Question : </a:t>
            </a:r>
            <a:br>
              <a:rPr lang="en-IN" dirty="0"/>
            </a:br>
            <a:r>
              <a:rPr lang="en-IN" b="1" dirty="0"/>
              <a:t>1. Balance</a:t>
            </a:r>
            <a:r>
              <a:rPr lang="en-IN" dirty="0"/>
              <a:t> –   Dependent variable </a:t>
            </a:r>
          </a:p>
          <a:p>
            <a:r>
              <a:rPr lang="en-IN" dirty="0"/>
              <a:t>		Type: Interval/Ratio (numeric), </a:t>
            </a:r>
          </a:p>
          <a:p>
            <a:r>
              <a:rPr lang="en-US" dirty="0"/>
              <a:t>		Meaning: Customer’s account balance in euros</a:t>
            </a:r>
          </a:p>
          <a:p>
            <a:r>
              <a:rPr lang="en-US" dirty="0"/>
              <a:t>		Role: This is what you are comparing between the two groups</a:t>
            </a:r>
            <a:r>
              <a:rPr lang="en-IN" dirty="0"/>
              <a:t>		 </a:t>
            </a:r>
          </a:p>
          <a:p>
            <a:r>
              <a:rPr lang="en-IN" dirty="0"/>
              <a:t>	</a:t>
            </a:r>
          </a:p>
          <a:p>
            <a:r>
              <a:rPr lang="en-IN" dirty="0"/>
              <a:t>	</a:t>
            </a:r>
          </a:p>
        </p:txBody>
      </p:sp>
      <p:sp>
        <p:nvSpPr>
          <p:cNvPr id="4" name="Slide Number Placeholder 3">
            <a:extLst>
              <a:ext uri="{FF2B5EF4-FFF2-40B4-BE49-F238E27FC236}">
                <a16:creationId xmlns:a16="http://schemas.microsoft.com/office/drawing/2014/main" id="{9BC15218-C174-1581-4533-D24A436A579A}"/>
              </a:ext>
            </a:extLst>
          </p:cNvPr>
          <p:cNvSpPr>
            <a:spLocks noGrp="1"/>
          </p:cNvSpPr>
          <p:nvPr>
            <p:ph type="sldNum" sz="quarter" idx="12"/>
          </p:nvPr>
        </p:nvSpPr>
        <p:spPr/>
        <p:txBody>
          <a:bodyPr/>
          <a:lstStyle/>
          <a:p>
            <a:fld id="{E4D355CA-84B7-41B1-B164-8BB439CC7C6B}" type="slidenum">
              <a:rPr lang="en-GB" smtClean="0"/>
              <a:pPr/>
              <a:t>3</a:t>
            </a:fld>
            <a:endParaRPr lang="en-GB"/>
          </a:p>
        </p:txBody>
      </p:sp>
    </p:spTree>
    <p:extLst>
      <p:ext uri="{BB962C8B-B14F-4D97-AF65-F5344CB8AC3E}">
        <p14:creationId xmlns:p14="http://schemas.microsoft.com/office/powerpoint/2010/main" val="983475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B89D12-0E5E-FD36-A69D-A6F816AF5A9C}"/>
              </a:ext>
            </a:extLst>
          </p:cNvPr>
          <p:cNvSpPr>
            <a:spLocks noGrp="1"/>
          </p:cNvSpPr>
          <p:nvPr>
            <p:ph idx="1"/>
          </p:nvPr>
        </p:nvSpPr>
        <p:spPr>
          <a:xfrm>
            <a:off x="970139" y="437323"/>
            <a:ext cx="10251722" cy="5784574"/>
          </a:xfrm>
        </p:spPr>
        <p:txBody>
          <a:bodyPr/>
          <a:lstStyle/>
          <a:p>
            <a:r>
              <a:rPr lang="en-US" b="1" dirty="0"/>
              <a:t>2. Exited – 	</a:t>
            </a:r>
            <a:r>
              <a:rPr lang="en-US" dirty="0"/>
              <a:t>Independent Variable</a:t>
            </a:r>
          </a:p>
          <a:p>
            <a:r>
              <a:rPr lang="en-US" dirty="0"/>
              <a:t>		Type: </a:t>
            </a:r>
            <a:r>
              <a:rPr lang="en-IN" dirty="0"/>
              <a:t>Nominal (0 = No, 1 = Yes)</a:t>
            </a:r>
          </a:p>
          <a:p>
            <a:r>
              <a:rPr lang="en-IN" dirty="0"/>
              <a:t>		Meaning: </a:t>
            </a:r>
            <a:r>
              <a:rPr lang="en-US" dirty="0"/>
              <a:t>Whether the customer left the bank</a:t>
            </a:r>
          </a:p>
          <a:p>
            <a:r>
              <a:rPr lang="en-US" dirty="0"/>
              <a:t>		Role: This variable creates the two groups being compared</a:t>
            </a:r>
          </a:p>
          <a:p>
            <a:endParaRPr lang="en-US" dirty="0"/>
          </a:p>
          <a:p>
            <a:endParaRPr lang="en-US" dirty="0"/>
          </a:p>
          <a:p>
            <a:endParaRPr lang="en-US" dirty="0"/>
          </a:p>
          <a:p>
            <a:endParaRPr lang="en-US" dirty="0"/>
          </a:p>
          <a:p>
            <a:endParaRPr lang="en-US" dirty="0"/>
          </a:p>
          <a:p>
            <a:pPr algn="ctr"/>
            <a:r>
              <a:rPr lang="en-IN" dirty="0"/>
              <a:t>Our Dataset has Total 14 Columns and 10,000 Rows in total</a:t>
            </a:r>
          </a:p>
          <a:p>
            <a:pPr algn="ctr"/>
            <a:endParaRPr lang="en-IN" dirty="0"/>
          </a:p>
        </p:txBody>
      </p:sp>
      <p:sp>
        <p:nvSpPr>
          <p:cNvPr id="4" name="Slide Number Placeholder 3">
            <a:extLst>
              <a:ext uri="{FF2B5EF4-FFF2-40B4-BE49-F238E27FC236}">
                <a16:creationId xmlns:a16="http://schemas.microsoft.com/office/drawing/2014/main" id="{49EF0764-A943-BD80-EC01-38296F7C9B70}"/>
              </a:ext>
            </a:extLst>
          </p:cNvPr>
          <p:cNvSpPr>
            <a:spLocks noGrp="1"/>
          </p:cNvSpPr>
          <p:nvPr>
            <p:ph type="sldNum" sz="quarter" idx="12"/>
          </p:nvPr>
        </p:nvSpPr>
        <p:spPr/>
        <p:txBody>
          <a:bodyPr/>
          <a:lstStyle/>
          <a:p>
            <a:fld id="{E4D355CA-84B7-41B1-B164-8BB439CC7C6B}" type="slidenum">
              <a:rPr lang="en-GB" smtClean="0"/>
              <a:pPr/>
              <a:t>4</a:t>
            </a:fld>
            <a:endParaRPr lang="en-GB"/>
          </a:p>
        </p:txBody>
      </p:sp>
      <p:pic>
        <p:nvPicPr>
          <p:cNvPr id="8" name="Picture 7">
            <a:extLst>
              <a:ext uri="{FF2B5EF4-FFF2-40B4-BE49-F238E27FC236}">
                <a16:creationId xmlns:a16="http://schemas.microsoft.com/office/drawing/2014/main" id="{8E686152-559B-4C3A-45C1-FA883CCB89D5}"/>
              </a:ext>
            </a:extLst>
          </p:cNvPr>
          <p:cNvPicPr>
            <a:picLocks noChangeAspect="1"/>
          </p:cNvPicPr>
          <p:nvPr/>
        </p:nvPicPr>
        <p:blipFill>
          <a:blip r:embed="rId2"/>
          <a:stretch>
            <a:fillRect/>
          </a:stretch>
        </p:blipFill>
        <p:spPr>
          <a:xfrm>
            <a:off x="1109287" y="2494720"/>
            <a:ext cx="10251722" cy="1813717"/>
          </a:xfrm>
          <a:prstGeom prst="rect">
            <a:avLst/>
          </a:prstGeom>
        </p:spPr>
      </p:pic>
    </p:spTree>
    <p:extLst>
      <p:ext uri="{BB962C8B-B14F-4D97-AF65-F5344CB8AC3E}">
        <p14:creationId xmlns:p14="http://schemas.microsoft.com/office/powerpoint/2010/main" val="795504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19D96-5D7C-DB5E-AC59-EEB678D1C99C}"/>
              </a:ext>
            </a:extLst>
          </p:cNvPr>
          <p:cNvSpPr>
            <a:spLocks noGrp="1"/>
          </p:cNvSpPr>
          <p:nvPr>
            <p:ph type="title"/>
          </p:nvPr>
        </p:nvSpPr>
        <p:spPr>
          <a:xfrm>
            <a:off x="970139" y="643252"/>
            <a:ext cx="7361569" cy="365125"/>
          </a:xfrm>
        </p:spPr>
        <p:txBody>
          <a:bodyPr/>
          <a:lstStyle/>
          <a:p>
            <a:r>
              <a:rPr lang="en-IN" dirty="0"/>
              <a:t>Research Question</a:t>
            </a:r>
          </a:p>
        </p:txBody>
      </p:sp>
      <p:sp>
        <p:nvSpPr>
          <p:cNvPr id="3" name="Content Placeholder 2">
            <a:extLst>
              <a:ext uri="{FF2B5EF4-FFF2-40B4-BE49-F238E27FC236}">
                <a16:creationId xmlns:a16="http://schemas.microsoft.com/office/drawing/2014/main" id="{140C1CA8-51B3-49B4-D152-6F0021B92B5F}"/>
              </a:ext>
            </a:extLst>
          </p:cNvPr>
          <p:cNvSpPr>
            <a:spLocks noGrp="1"/>
          </p:cNvSpPr>
          <p:nvPr>
            <p:ph idx="1"/>
          </p:nvPr>
        </p:nvSpPr>
        <p:spPr>
          <a:xfrm>
            <a:off x="970139" y="1126137"/>
            <a:ext cx="10251722" cy="5393933"/>
          </a:xfrm>
        </p:spPr>
        <p:txBody>
          <a:bodyPr/>
          <a:lstStyle/>
          <a:p>
            <a:r>
              <a:rPr lang="en-US" b="1" dirty="0"/>
              <a:t>Research Question (Template 2 — Difference in Means):</a:t>
            </a:r>
          </a:p>
          <a:p>
            <a:r>
              <a:rPr lang="en-US" b="1" dirty="0"/>
              <a:t>“Is there a statistically significant difference in the mean account balance (measured in euros) between customers who exited the bank and those who remained?”</a:t>
            </a:r>
            <a:endParaRPr lang="en-US" dirty="0"/>
          </a:p>
          <a:p>
            <a:r>
              <a:rPr lang="en-US" dirty="0"/>
              <a:t>This clearly places the </a:t>
            </a:r>
            <a:r>
              <a:rPr lang="en-US" b="1" dirty="0"/>
              <a:t>dependent variable (Balance)</a:t>
            </a:r>
            <a:r>
              <a:rPr lang="en-US" dirty="0"/>
              <a:t> first and the </a:t>
            </a:r>
            <a:r>
              <a:rPr lang="en-US" b="1" dirty="0"/>
              <a:t>independent variable (Exited)</a:t>
            </a:r>
            <a:r>
              <a:rPr lang="en-US" dirty="0"/>
              <a:t> second, following the template instructions.</a:t>
            </a:r>
          </a:p>
          <a:p>
            <a:r>
              <a:rPr lang="en-US" b="1" dirty="0"/>
              <a:t>Null Hypothesis (H₀):</a:t>
            </a:r>
          </a:p>
          <a:p>
            <a:r>
              <a:rPr lang="en-US" dirty="0"/>
              <a:t>There is </a:t>
            </a:r>
            <a:r>
              <a:rPr lang="en-US" b="1" dirty="0"/>
              <a:t>no statistically significant difference</a:t>
            </a:r>
            <a:r>
              <a:rPr lang="en-US" dirty="0"/>
              <a:t> in the mean account balance (in euros) between customers who exited the bank and those who remained.</a:t>
            </a:r>
          </a:p>
          <a:p>
            <a:r>
              <a:rPr lang="en-US" b="1" dirty="0"/>
              <a:t>Alternative Hypothesis (H₁):</a:t>
            </a:r>
          </a:p>
          <a:p>
            <a:r>
              <a:rPr lang="en-US" dirty="0"/>
              <a:t>There </a:t>
            </a:r>
            <a:r>
              <a:rPr lang="en-US" b="1" dirty="0"/>
              <a:t>is a statistically significant difference</a:t>
            </a:r>
            <a:r>
              <a:rPr lang="en-US" dirty="0"/>
              <a:t> in the mean account balance (in euros) between customers who exited the bank and those who remained.</a:t>
            </a:r>
          </a:p>
          <a:p>
            <a:endParaRPr lang="en-IN" dirty="0"/>
          </a:p>
        </p:txBody>
      </p:sp>
      <p:sp>
        <p:nvSpPr>
          <p:cNvPr id="4" name="Slide Number Placeholder 3">
            <a:extLst>
              <a:ext uri="{FF2B5EF4-FFF2-40B4-BE49-F238E27FC236}">
                <a16:creationId xmlns:a16="http://schemas.microsoft.com/office/drawing/2014/main" id="{62519240-61B3-A484-D32C-1F8EC5D0AE73}"/>
              </a:ext>
            </a:extLst>
          </p:cNvPr>
          <p:cNvSpPr>
            <a:spLocks noGrp="1"/>
          </p:cNvSpPr>
          <p:nvPr>
            <p:ph type="sldNum" sz="quarter" idx="12"/>
          </p:nvPr>
        </p:nvSpPr>
        <p:spPr/>
        <p:txBody>
          <a:bodyPr/>
          <a:lstStyle/>
          <a:p>
            <a:fld id="{E4D355CA-84B7-41B1-B164-8BB439CC7C6B}" type="slidenum">
              <a:rPr lang="en-GB" smtClean="0"/>
              <a:pPr/>
              <a:t>5</a:t>
            </a:fld>
            <a:endParaRPr lang="en-GB"/>
          </a:p>
        </p:txBody>
      </p:sp>
    </p:spTree>
    <p:extLst>
      <p:ext uri="{BB962C8B-B14F-4D97-AF65-F5344CB8AC3E}">
        <p14:creationId xmlns:p14="http://schemas.microsoft.com/office/powerpoint/2010/main" val="3265205104"/>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3.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963</TotalTime>
  <Words>372</Words>
  <Application>Microsoft Office PowerPoint</Application>
  <PresentationFormat>Widescreen</PresentationFormat>
  <Paragraphs>33</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Herts Theme</vt:lpstr>
      <vt:lpstr>PowerPoint Presentation</vt:lpstr>
      <vt:lpstr>Research Question –  Tutorial Presentation for Feedback Date: 24th Nov 2025  </vt:lpstr>
      <vt:lpstr>Sample of DS – 238 ( Churn Modeling.CSV)</vt:lpstr>
      <vt:lpstr>PowerPoint Presentation</vt:lpstr>
      <vt:lpstr>Research 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Swarna Lalitha Mahalakshmi Kommana</cp:lastModifiedBy>
  <cp:revision>119</cp:revision>
  <dcterms:created xsi:type="dcterms:W3CDTF">2019-10-01T08:37:56Z</dcterms:created>
  <dcterms:modified xsi:type="dcterms:W3CDTF">2025-12-02T20:43:23Z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