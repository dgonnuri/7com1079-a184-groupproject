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89" r:id="rId5"/>
    <p:sldId id="341" r:id="rId6"/>
    <p:sldId id="343" r:id="rId7"/>
    <p:sldId id="340" r:id="rId8"/>
    <p:sldId id="344" r:id="rId9"/>
    <p:sldId id="345" r:id="rId10"/>
    <p:sldId id="347" r:id="rId11"/>
    <p:sldId id="346" r:id="rId12"/>
    <p:sldId id="34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58" autoAdjust="0"/>
  </p:normalViewPr>
  <p:slideViewPr>
    <p:cSldViewPr snapToGrid="0">
      <p:cViewPr varScale="1">
        <p:scale>
          <a:sx n="74" d="100"/>
          <a:sy n="74" d="100"/>
        </p:scale>
        <p:origin x="1013" y="77"/>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07/12/2025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07/12/2025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3934570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114A4-600B-FC0B-B74B-E6D8D6927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28447-82EA-9F62-8C64-259F699A5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B29B5-B80B-29A6-A345-933DEF74732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DA29DDA-2A50-B421-E349-F6989A7F4B2B}"/>
              </a:ext>
            </a:extLst>
          </p:cNvPr>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245843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4000" y="1890000"/>
            <a:ext cx="10285200" cy="360000"/>
          </a:xfrm>
        </p:spPr>
        <p:txBody>
          <a:bodyPr/>
          <a:lstStyle/>
          <a:p>
            <a:r>
              <a:rPr lang="en-US" sz="2000" dirty="0"/>
              <a:t>Group Id: A184                                                           Name of Student Presenting: Durga Sai </a:t>
            </a:r>
            <a:r>
              <a:rPr lang="en-US" sz="2000" dirty="0" err="1"/>
              <a:t>Gonnuri</a:t>
            </a:r>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A184                    Names of Student Attendees: Durga Sai </a:t>
            </a:r>
            <a:r>
              <a:rPr lang="en-GB" dirty="0" err="1"/>
              <a:t>Gonnuri</a:t>
            </a:r>
            <a:r>
              <a:rPr lang="en-GB" dirty="0"/>
              <a:t>, Shivaram       </a:t>
            </a:r>
            <a:r>
              <a:rPr lang="en-GB" dirty="0" err="1"/>
              <a:t>Jillepally</a:t>
            </a:r>
            <a:r>
              <a:rPr lang="en-GB" dirty="0"/>
              <a:t>, Swarna Lalitha Mahalakshmi Kommana, Sushmitha Muthe, Manideep </a:t>
            </a:r>
            <a:r>
              <a:rPr lang="en-GB" dirty="0" err="1"/>
              <a:t>Javvaji</a:t>
            </a:r>
            <a:r>
              <a:rPr lang="en-GB" dirty="0"/>
              <a:t> </a:t>
            </a:r>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1</a:t>
            </a:fld>
            <a:endParaRPr lang="en-GB"/>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42200" y="1376515"/>
            <a:ext cx="8909724" cy="339095"/>
          </a:xfrm>
        </p:spPr>
        <p:txBody>
          <a:bodyPr/>
          <a:lstStyle/>
          <a:p>
            <a:r>
              <a:rPr lang="en-US" dirty="0"/>
              <a:t>Part 1: VISUALISATION</a:t>
            </a:r>
            <a:r>
              <a:rPr lang="en-IN" dirty="0"/>
              <a:t> of DS – 238</a:t>
            </a:r>
            <a:endParaRPr lang="en-GB" dirty="0"/>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dirty="0"/>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2</a:t>
            </a:fld>
            <a:endParaRPr lang="en-GB"/>
          </a:p>
        </p:txBody>
      </p:sp>
      <p:sp>
        <p:nvSpPr>
          <p:cNvPr id="7" name="TextBox 6">
            <a:extLst>
              <a:ext uri="{FF2B5EF4-FFF2-40B4-BE49-F238E27FC236}">
                <a16:creationId xmlns:a16="http://schemas.microsoft.com/office/drawing/2014/main" id="{F85A7A11-1636-36F0-DA0E-9C66515F12A3}"/>
              </a:ext>
            </a:extLst>
          </p:cNvPr>
          <p:cNvSpPr txBox="1"/>
          <p:nvPr/>
        </p:nvSpPr>
        <p:spPr>
          <a:xfrm>
            <a:off x="965289" y="1982381"/>
            <a:ext cx="10273911" cy="3785652"/>
          </a:xfrm>
          <a:prstGeom prst="rect">
            <a:avLst/>
          </a:prstGeom>
          <a:noFill/>
        </p:spPr>
        <p:txBody>
          <a:bodyPr wrap="square" rtlCol="0">
            <a:spAutoFit/>
          </a:bodyPr>
          <a:lstStyle/>
          <a:p>
            <a:r>
              <a:rPr lang="en-US" b="1" dirty="0"/>
              <a:t>Summary of our dataset: Bank Customer Churn (DS238)</a:t>
            </a:r>
          </a:p>
          <a:p>
            <a:r>
              <a:rPr lang="en-US" dirty="0"/>
              <a:t>This dataset contains information about 10,000 bank customers, including demographic details, financial indicators, and whether the customer exited the bank. It is meaningful because it allows us to analyze churn behavior and understand which financial factors may influence a customer’s decision to leave the bank.</a:t>
            </a:r>
          </a:p>
          <a:p>
            <a:endParaRPr lang="en-US" dirty="0"/>
          </a:p>
          <a:p>
            <a:r>
              <a:rPr lang="en-US" sz="2400" b="1" dirty="0"/>
              <a:t>Research Question</a:t>
            </a:r>
          </a:p>
          <a:p>
            <a:r>
              <a:rPr lang="en-US" sz="2400" b="1" dirty="0">
                <a:solidFill>
                  <a:srgbClr val="FF0000"/>
                </a:solidFill>
              </a:rPr>
              <a:t>Is there a statistically significant difference in the mean account balance (measured in euros) between customers who exited the bank and those who remained?</a:t>
            </a:r>
          </a:p>
          <a:p>
            <a:endParaRPr lang="en-US" b="1" dirty="0">
              <a:solidFill>
                <a:srgbClr val="FF0000"/>
              </a:solidFill>
            </a:endParaRPr>
          </a:p>
          <a:p>
            <a:endParaRPr lang="en-US" dirty="0"/>
          </a:p>
        </p:txBody>
      </p:sp>
    </p:spTree>
    <p:extLst>
      <p:ext uri="{BB962C8B-B14F-4D97-AF65-F5344CB8AC3E}">
        <p14:creationId xmlns:p14="http://schemas.microsoft.com/office/powerpoint/2010/main" val="2339144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7516B3-025A-EDBA-6820-C3A686F2BCE7}"/>
              </a:ext>
            </a:extLst>
          </p:cNvPr>
          <p:cNvSpPr>
            <a:spLocks noGrp="1"/>
          </p:cNvSpPr>
          <p:nvPr>
            <p:ph type="sldNum" sz="quarter" idx="12"/>
          </p:nvPr>
        </p:nvSpPr>
        <p:spPr/>
        <p:txBody>
          <a:bodyPr/>
          <a:lstStyle/>
          <a:p>
            <a:fld id="{E4D355CA-84B7-41B1-B164-8BB439CC7C6B}" type="slidenum">
              <a:rPr lang="en-GB" smtClean="0"/>
              <a:pPr/>
              <a:t>3</a:t>
            </a:fld>
            <a:endParaRPr lang="en-GB"/>
          </a:p>
        </p:txBody>
      </p:sp>
      <p:sp>
        <p:nvSpPr>
          <p:cNvPr id="9" name="TextBox 8">
            <a:extLst>
              <a:ext uri="{FF2B5EF4-FFF2-40B4-BE49-F238E27FC236}">
                <a16:creationId xmlns:a16="http://schemas.microsoft.com/office/drawing/2014/main" id="{7A22CEB7-47B1-EDE8-EB46-2ADD814F0AE4}"/>
              </a:ext>
            </a:extLst>
          </p:cNvPr>
          <p:cNvSpPr txBox="1"/>
          <p:nvPr/>
        </p:nvSpPr>
        <p:spPr>
          <a:xfrm>
            <a:off x="773859" y="671691"/>
            <a:ext cx="10644282" cy="6463308"/>
          </a:xfrm>
          <a:prstGeom prst="rect">
            <a:avLst/>
          </a:prstGeom>
          <a:noFill/>
        </p:spPr>
        <p:txBody>
          <a:bodyPr wrap="square" rtlCol="0">
            <a:spAutoFit/>
          </a:bodyPr>
          <a:lstStyle/>
          <a:p>
            <a:r>
              <a:rPr lang="en-IN" dirty="0"/>
              <a:t>The column/ variable name which we are including in our Research Question : </a:t>
            </a:r>
            <a:br>
              <a:rPr lang="en-IN" dirty="0"/>
            </a:br>
            <a:r>
              <a:rPr lang="en-IN" b="1" dirty="0"/>
              <a:t>1. Balance</a:t>
            </a:r>
            <a:r>
              <a:rPr lang="en-IN" dirty="0"/>
              <a:t> –   Dependent variable </a:t>
            </a:r>
          </a:p>
          <a:p>
            <a:r>
              <a:rPr lang="en-IN" dirty="0"/>
              <a:t>		Type: Interval/Ratio (numeric), </a:t>
            </a:r>
          </a:p>
          <a:p>
            <a:r>
              <a:rPr lang="en-US" dirty="0"/>
              <a:t>		Meaning: Customer’s account balance in euros</a:t>
            </a:r>
          </a:p>
          <a:p>
            <a:r>
              <a:rPr lang="en-US" dirty="0"/>
              <a:t>		Role: This is what you are comparing between the two groups</a:t>
            </a:r>
          </a:p>
          <a:p>
            <a:r>
              <a:rPr lang="en-US" b="1" dirty="0"/>
              <a:t>2. Exited – 	</a:t>
            </a:r>
            <a:r>
              <a:rPr lang="en-US" dirty="0"/>
              <a:t>Independent Variable</a:t>
            </a:r>
          </a:p>
          <a:p>
            <a:r>
              <a:rPr lang="en-US" dirty="0"/>
              <a:t>		Type: </a:t>
            </a:r>
            <a:r>
              <a:rPr lang="en-IN" dirty="0"/>
              <a:t>Nominal (0 = No, 1 = Yes)</a:t>
            </a:r>
          </a:p>
          <a:p>
            <a:r>
              <a:rPr lang="en-IN" dirty="0"/>
              <a:t>		Meaning: </a:t>
            </a:r>
            <a:r>
              <a:rPr lang="en-US" dirty="0"/>
              <a:t>Whether the customer left the bank</a:t>
            </a:r>
          </a:p>
          <a:p>
            <a:r>
              <a:rPr lang="en-US" dirty="0"/>
              <a:t>		Role: This variable creates the two groups being compared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endParaRPr lang="en-IN" dirty="0"/>
          </a:p>
          <a:p>
            <a:pPr algn="ctr"/>
            <a:r>
              <a:rPr lang="en-IN" dirty="0"/>
              <a:t>Our Dataset has Total 14 Columns and 10,000 Rows in total</a:t>
            </a:r>
          </a:p>
          <a:p>
            <a:endParaRPr lang="en-US" dirty="0"/>
          </a:p>
          <a:p>
            <a:endParaRPr lang="en-US" dirty="0"/>
          </a:p>
          <a:p>
            <a:endParaRPr lang="en-US" b="1" dirty="0">
              <a:solidFill>
                <a:srgbClr val="FF0000"/>
              </a:solidFill>
            </a:endParaRPr>
          </a:p>
          <a:p>
            <a:endParaRPr lang="en-US" dirty="0"/>
          </a:p>
        </p:txBody>
      </p:sp>
      <p:pic>
        <p:nvPicPr>
          <p:cNvPr id="10" name="Picture 9">
            <a:extLst>
              <a:ext uri="{FF2B5EF4-FFF2-40B4-BE49-F238E27FC236}">
                <a16:creationId xmlns:a16="http://schemas.microsoft.com/office/drawing/2014/main" id="{64D45A43-FBD8-6467-C21A-27AA7399B760}"/>
              </a:ext>
            </a:extLst>
          </p:cNvPr>
          <p:cNvPicPr>
            <a:picLocks noChangeAspect="1"/>
          </p:cNvPicPr>
          <p:nvPr/>
        </p:nvPicPr>
        <p:blipFill>
          <a:blip r:embed="rId2"/>
          <a:stretch>
            <a:fillRect/>
          </a:stretch>
        </p:blipFill>
        <p:spPr>
          <a:xfrm>
            <a:off x="992328" y="3419727"/>
            <a:ext cx="10251722" cy="1813717"/>
          </a:xfrm>
          <a:prstGeom prst="rect">
            <a:avLst/>
          </a:prstGeom>
        </p:spPr>
      </p:pic>
    </p:spTree>
    <p:extLst>
      <p:ext uri="{BB962C8B-B14F-4D97-AF65-F5344CB8AC3E}">
        <p14:creationId xmlns:p14="http://schemas.microsoft.com/office/powerpoint/2010/main" val="762954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4</a:t>
            </a:fld>
            <a:endParaRPr lang="en-GB"/>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52800" y="353630"/>
            <a:ext cx="10059465" cy="668224"/>
          </a:xfrm>
          <a:solidFill>
            <a:schemeClr val="bg2"/>
          </a:solidFill>
        </p:spPr>
        <p:txBody>
          <a:bodyPr/>
          <a:lstStyle/>
          <a:p>
            <a:pPr>
              <a:lnSpc>
                <a:spcPct val="100000"/>
              </a:lnSpc>
            </a:pPr>
            <a:r>
              <a:rPr lang="en-GB" b="0" dirty="0">
                <a:solidFill>
                  <a:srgbClr val="FF0000"/>
                </a:solidFill>
              </a:rPr>
              <a:t>Our RQ Includes Comparison of means</a:t>
            </a:r>
            <a:endParaRPr lang="en-GB" b="0" i="1" dirty="0"/>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952800" y="1021853"/>
            <a:ext cx="10059465" cy="1887601"/>
          </a:xfrm>
          <a:solidFill>
            <a:srgbClr val="FFFF00"/>
          </a:solidFill>
        </p:spPr>
        <p:txBody>
          <a:bodyPr>
            <a:normAutofit fontScale="90000"/>
          </a:bodyPr>
          <a:lstStyle/>
          <a:p>
            <a:pPr>
              <a:lnSpc>
                <a:spcPct val="100000"/>
              </a:lnSpc>
            </a:pPr>
            <a:r>
              <a:rPr lang="en-GB" sz="3600" b="0" dirty="0"/>
              <a:t>1. Boxplot of Account Balance (euros) by customer exit status – Dependent variable Balance, Independent variable Exited.</a:t>
            </a:r>
            <a:br>
              <a:rPr lang="en-GB" sz="3600" b="0" dirty="0"/>
            </a:br>
            <a:r>
              <a:rPr lang="en-GB" sz="3600" b="0" dirty="0"/>
              <a:t>Y axis Label - Balance (euros)</a:t>
            </a:r>
            <a:br>
              <a:rPr lang="en-GB" sz="3600" b="0" dirty="0"/>
            </a:br>
            <a:r>
              <a:rPr lang="en-GB" sz="3600" b="0" dirty="0"/>
              <a:t>X axis label – Customer exit status (0 = Remained, 1 = Exited) </a:t>
            </a:r>
            <a:br>
              <a:rPr lang="en-GB" sz="3600" b="0" dirty="0"/>
            </a:br>
            <a:endParaRPr lang="en-GB" sz="3100" b="0" dirty="0"/>
          </a:p>
        </p:txBody>
      </p:sp>
      <p:pic>
        <p:nvPicPr>
          <p:cNvPr id="5" name="Picture 4">
            <a:extLst>
              <a:ext uri="{FF2B5EF4-FFF2-40B4-BE49-F238E27FC236}">
                <a16:creationId xmlns:a16="http://schemas.microsoft.com/office/drawing/2014/main" id="{E9B71FC4-3A74-2F93-403C-4C517BBFF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800" y="3002973"/>
            <a:ext cx="6154582" cy="3731804"/>
          </a:xfrm>
          <a:prstGeom prst="rect">
            <a:avLst/>
          </a:prstGeom>
        </p:spPr>
      </p:pic>
    </p:spTree>
    <p:extLst>
      <p:ext uri="{BB962C8B-B14F-4D97-AF65-F5344CB8AC3E}">
        <p14:creationId xmlns:p14="http://schemas.microsoft.com/office/powerpoint/2010/main" val="2723358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B8131-042F-7934-F379-60844B5C8B3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3E5126-0C72-BE29-53B6-53E40EAB6B1C}"/>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95496F84-D812-3458-4691-F824A17B5397}"/>
              </a:ext>
            </a:extLst>
          </p:cNvPr>
          <p:cNvSpPr>
            <a:spLocks noGrp="1"/>
          </p:cNvSpPr>
          <p:nvPr>
            <p:ph type="sldNum" sz="quarter" idx="12"/>
          </p:nvPr>
        </p:nvSpPr>
        <p:spPr/>
        <p:txBody>
          <a:bodyPr/>
          <a:lstStyle/>
          <a:p>
            <a:fld id="{E4D355CA-84B7-41B1-B164-8BB439CC7C6B}" type="slidenum">
              <a:rPr lang="en-GB" smtClean="0"/>
              <a:pPr/>
              <a:t>5</a:t>
            </a:fld>
            <a:endParaRPr lang="en-GB"/>
          </a:p>
        </p:txBody>
      </p:sp>
      <p:sp>
        <p:nvSpPr>
          <p:cNvPr id="8" name="Subtitle 7">
            <a:extLst>
              <a:ext uri="{FF2B5EF4-FFF2-40B4-BE49-F238E27FC236}">
                <a16:creationId xmlns:a16="http://schemas.microsoft.com/office/drawing/2014/main" id="{66F37FE6-488C-51D7-9974-CE69717E43F3}"/>
              </a:ext>
            </a:extLst>
          </p:cNvPr>
          <p:cNvSpPr>
            <a:spLocks noGrp="1"/>
          </p:cNvSpPr>
          <p:nvPr>
            <p:ph type="subTitle" idx="1"/>
          </p:nvPr>
        </p:nvSpPr>
        <p:spPr>
          <a:xfrm>
            <a:off x="952800" y="353630"/>
            <a:ext cx="10059465" cy="668224"/>
          </a:xfrm>
          <a:solidFill>
            <a:schemeClr val="bg2"/>
          </a:solidFill>
        </p:spPr>
        <p:txBody>
          <a:bodyPr/>
          <a:lstStyle/>
          <a:p>
            <a:pPr>
              <a:lnSpc>
                <a:spcPct val="100000"/>
              </a:lnSpc>
            </a:pPr>
            <a:r>
              <a:rPr lang="en-GB" b="0" dirty="0">
                <a:solidFill>
                  <a:srgbClr val="FF0000"/>
                </a:solidFill>
              </a:rPr>
              <a:t>Our RQ Includes Comparison of means</a:t>
            </a:r>
            <a:endParaRPr lang="en-GB" b="0" i="1" dirty="0"/>
          </a:p>
        </p:txBody>
      </p:sp>
      <p:sp>
        <p:nvSpPr>
          <p:cNvPr id="12" name="Title 11">
            <a:extLst>
              <a:ext uri="{FF2B5EF4-FFF2-40B4-BE49-F238E27FC236}">
                <a16:creationId xmlns:a16="http://schemas.microsoft.com/office/drawing/2014/main" id="{43D6CF10-872E-EB0F-AAE9-57344DB8B940}"/>
              </a:ext>
            </a:extLst>
          </p:cNvPr>
          <p:cNvSpPr>
            <a:spLocks noGrp="1"/>
          </p:cNvSpPr>
          <p:nvPr>
            <p:ph type="ctrTitle"/>
          </p:nvPr>
        </p:nvSpPr>
        <p:spPr>
          <a:xfrm>
            <a:off x="965289" y="1021854"/>
            <a:ext cx="10059465" cy="1981119"/>
          </a:xfrm>
          <a:solidFill>
            <a:srgbClr val="FFFF00"/>
          </a:solidFill>
        </p:spPr>
        <p:txBody>
          <a:bodyPr>
            <a:normAutofit fontScale="90000"/>
          </a:bodyPr>
          <a:lstStyle/>
          <a:p>
            <a:pPr>
              <a:lnSpc>
                <a:spcPct val="100000"/>
              </a:lnSpc>
            </a:pPr>
            <a:r>
              <a:rPr lang="en-GB" sz="3600" b="0" dirty="0"/>
              <a:t>2. </a:t>
            </a:r>
            <a:r>
              <a:rPr lang="en-US" sz="3600" b="0" dirty="0"/>
              <a:t>Histogram of Balance (euros) with Normal Curve </a:t>
            </a:r>
            <a:r>
              <a:rPr lang="en-GB" sz="3600" b="0" dirty="0"/>
              <a:t>– Dependent variable Balance.</a:t>
            </a:r>
            <a:br>
              <a:rPr lang="en-GB" sz="3600" b="0" dirty="0"/>
            </a:br>
            <a:r>
              <a:rPr lang="en-GB" sz="3600" b="0" dirty="0"/>
              <a:t>X axis label - Balance(euros)</a:t>
            </a:r>
            <a:br>
              <a:rPr lang="en-GB" sz="3600" b="0" dirty="0"/>
            </a:br>
            <a:r>
              <a:rPr lang="en-GB" sz="3600" b="0" dirty="0"/>
              <a:t>Y axis label - Density </a:t>
            </a:r>
            <a:endParaRPr lang="en-GB" sz="3100" b="0" dirty="0"/>
          </a:p>
        </p:txBody>
      </p:sp>
      <p:pic>
        <p:nvPicPr>
          <p:cNvPr id="5" name="Picture 4">
            <a:extLst>
              <a:ext uri="{FF2B5EF4-FFF2-40B4-BE49-F238E27FC236}">
                <a16:creationId xmlns:a16="http://schemas.microsoft.com/office/drawing/2014/main" id="{9809EDB3-8B47-DA06-215A-778EF9204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898" y="3002973"/>
            <a:ext cx="6485182" cy="3709555"/>
          </a:xfrm>
          <a:prstGeom prst="rect">
            <a:avLst/>
          </a:prstGeom>
        </p:spPr>
      </p:pic>
    </p:spTree>
    <p:extLst>
      <p:ext uri="{BB962C8B-B14F-4D97-AF65-F5344CB8AC3E}">
        <p14:creationId xmlns:p14="http://schemas.microsoft.com/office/powerpoint/2010/main" val="629525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8F4E-EED0-8F39-EBC7-A3C0AECC73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737918-ED8D-8543-E781-56A5B1536FF3}"/>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9" name="TextBox 8">
            <a:extLst>
              <a:ext uri="{FF2B5EF4-FFF2-40B4-BE49-F238E27FC236}">
                <a16:creationId xmlns:a16="http://schemas.microsoft.com/office/drawing/2014/main" id="{E92EF2D3-510A-799E-E84E-B56C3B0C8B14}"/>
              </a:ext>
            </a:extLst>
          </p:cNvPr>
          <p:cNvSpPr txBox="1"/>
          <p:nvPr/>
        </p:nvSpPr>
        <p:spPr>
          <a:xfrm>
            <a:off x="660706" y="783355"/>
            <a:ext cx="10644282" cy="4216539"/>
          </a:xfrm>
          <a:prstGeom prst="rect">
            <a:avLst/>
          </a:prstGeom>
          <a:noFill/>
        </p:spPr>
        <p:txBody>
          <a:bodyPr wrap="square" rtlCol="0">
            <a:spAutoFit/>
          </a:bodyPr>
          <a:lstStyle/>
          <a:p>
            <a:r>
              <a:rPr lang="en-US" sz="3200" b="1" dirty="0">
                <a:solidFill>
                  <a:srgbClr val="FF0000"/>
                </a:solidFill>
                <a:latin typeface="+mj-lt"/>
              </a:rPr>
              <a:t>Choosing Test &amp; Rationale</a:t>
            </a:r>
          </a:p>
          <a:p>
            <a:endParaRPr lang="en-US" b="1" dirty="0"/>
          </a:p>
          <a:p>
            <a:r>
              <a:rPr lang="en-US" sz="2000" b="1" dirty="0"/>
              <a:t>Normality Check</a:t>
            </a:r>
          </a:p>
          <a:p>
            <a:pPr marL="342900" indent="-342900">
              <a:buFont typeface="Arial" panose="020B0604020202020204" pitchFamily="34" charset="0"/>
              <a:buChar char="•"/>
            </a:pPr>
            <a:r>
              <a:rPr lang="en-US" sz="2000" dirty="0"/>
              <a:t>Histogram shows </a:t>
            </a:r>
            <a:r>
              <a:rPr lang="en-US" sz="2000" b="1" dirty="0"/>
              <a:t>strong skewness</a:t>
            </a:r>
            <a:endParaRPr lang="en-US" sz="2000" dirty="0"/>
          </a:p>
          <a:p>
            <a:pPr marL="342900" indent="-342900">
              <a:buFont typeface="Arial" panose="020B0604020202020204" pitchFamily="34" charset="0"/>
              <a:buChar char="•"/>
            </a:pPr>
            <a:r>
              <a:rPr lang="en-US" sz="2000" dirty="0"/>
              <a:t>Large number of zero balances</a:t>
            </a:r>
          </a:p>
          <a:p>
            <a:pPr marL="342900" indent="-342900">
              <a:buFont typeface="Arial" panose="020B0604020202020204" pitchFamily="34" charset="0"/>
              <a:buChar char="•"/>
            </a:pPr>
            <a:r>
              <a:rPr lang="en-US" sz="2000" dirty="0"/>
              <a:t>Distribution does </a:t>
            </a:r>
            <a:r>
              <a:rPr lang="en-US" sz="2000" b="1" dirty="0"/>
              <a:t>not</a:t>
            </a:r>
            <a:r>
              <a:rPr lang="en-US" sz="2000" dirty="0"/>
              <a:t> follow a normal curve</a:t>
            </a:r>
          </a:p>
          <a:p>
            <a:endParaRPr lang="en-US" sz="2000" dirty="0"/>
          </a:p>
          <a:p>
            <a:r>
              <a:rPr lang="en-US" sz="2000" b="1" dirty="0"/>
              <a:t>Conclusion about test selection</a:t>
            </a:r>
          </a:p>
          <a:p>
            <a:r>
              <a:rPr lang="en-US" sz="2000" dirty="0"/>
              <a:t>“Because the normal curve does not follow the data, the </a:t>
            </a:r>
            <a:r>
              <a:rPr lang="en-US" sz="2000" b="1" dirty="0"/>
              <a:t>Wilcoxon rank-sum test</a:t>
            </a:r>
            <a:r>
              <a:rPr lang="en-US" sz="2000" dirty="0"/>
              <a:t> is more appropriate.</a:t>
            </a:r>
            <a:br>
              <a:rPr lang="en-US" sz="2000" dirty="0"/>
            </a:br>
            <a:r>
              <a:rPr lang="en-US" sz="2000" dirty="0"/>
              <a:t>However, we also ran the </a:t>
            </a:r>
            <a:r>
              <a:rPr lang="en-US" sz="2000" b="1" dirty="0"/>
              <a:t>Welch t-test</a:t>
            </a:r>
            <a:r>
              <a:rPr lang="en-US" sz="2000" dirty="0"/>
              <a:t> to compare results, since the sample size is large (n = 10,000), making the t-test robust.”</a:t>
            </a:r>
          </a:p>
          <a:p>
            <a:endParaRPr lang="en-US" dirty="0"/>
          </a:p>
        </p:txBody>
      </p:sp>
    </p:spTree>
    <p:extLst>
      <p:ext uri="{BB962C8B-B14F-4D97-AF65-F5344CB8AC3E}">
        <p14:creationId xmlns:p14="http://schemas.microsoft.com/office/powerpoint/2010/main" val="1830490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588F3-FEF3-8D2C-F03B-A5DFB9A7D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EFA4F-6FA0-93A4-8987-6F07611ABFDE}"/>
              </a:ext>
            </a:extLst>
          </p:cNvPr>
          <p:cNvSpPr>
            <a:spLocks noGrp="1"/>
          </p:cNvSpPr>
          <p:nvPr>
            <p:ph type="title"/>
          </p:nvPr>
        </p:nvSpPr>
        <p:spPr>
          <a:xfrm>
            <a:off x="1078691" y="782793"/>
            <a:ext cx="10279150" cy="365125"/>
          </a:xfrm>
        </p:spPr>
        <p:txBody>
          <a:bodyPr/>
          <a:lstStyle/>
          <a:p>
            <a:r>
              <a:rPr lang="en-IN" dirty="0"/>
              <a:t>Statistical Tests &amp; Results</a:t>
            </a:r>
          </a:p>
        </p:txBody>
      </p:sp>
      <p:sp>
        <p:nvSpPr>
          <p:cNvPr id="3" name="Content Placeholder 2">
            <a:extLst>
              <a:ext uri="{FF2B5EF4-FFF2-40B4-BE49-F238E27FC236}">
                <a16:creationId xmlns:a16="http://schemas.microsoft.com/office/drawing/2014/main" id="{9695BB2A-A039-18D9-6423-4E0D26C6640A}"/>
              </a:ext>
            </a:extLst>
          </p:cNvPr>
          <p:cNvSpPr>
            <a:spLocks noGrp="1"/>
          </p:cNvSpPr>
          <p:nvPr>
            <p:ph sz="half" idx="1"/>
          </p:nvPr>
        </p:nvSpPr>
        <p:spPr>
          <a:xfrm>
            <a:off x="1078691" y="1387407"/>
            <a:ext cx="9810982" cy="2698522"/>
          </a:xfrm>
        </p:spPr>
        <p:txBody>
          <a:bodyPr/>
          <a:lstStyle/>
          <a:p>
            <a:r>
              <a:rPr lang="en-US" b="1" dirty="0"/>
              <a:t>WILCOXON TEST (Final, correct test) </a:t>
            </a:r>
          </a:p>
          <a:p>
            <a:r>
              <a:rPr lang="en-IN" dirty="0"/>
              <a:t>Interpretation : </a:t>
            </a:r>
            <a:r>
              <a:rPr lang="en-US" dirty="0"/>
              <a:t>The Wilcoxon test also shows p &lt; 0.001, confirming that the two groups differ significantly in balance, even when using a non-parametric method. </a:t>
            </a:r>
          </a:p>
          <a:p>
            <a:pPr latinLnBrk="1"/>
            <a:r>
              <a:rPr lang="en-US" dirty="0"/>
              <a:t>R Code : &gt; wilcox_result &lt;- wilcox.test(Balance ~ Exited)</a:t>
            </a:r>
          </a:p>
          <a:p>
            <a:pPr latinLnBrk="1"/>
            <a:r>
              <a:rPr lang="en-US" dirty="0"/>
              <a:t>                &gt; wilcox_result</a:t>
            </a:r>
          </a:p>
          <a:p>
            <a:endParaRPr lang="en-US" dirty="0"/>
          </a:p>
          <a:p>
            <a:endParaRPr lang="en-US" dirty="0"/>
          </a:p>
          <a:p>
            <a:endParaRPr lang="en-IN" dirty="0"/>
          </a:p>
        </p:txBody>
      </p:sp>
      <p:sp>
        <p:nvSpPr>
          <p:cNvPr id="6" name="Slide Number Placeholder 5">
            <a:extLst>
              <a:ext uri="{FF2B5EF4-FFF2-40B4-BE49-F238E27FC236}">
                <a16:creationId xmlns:a16="http://schemas.microsoft.com/office/drawing/2014/main" id="{3C3FDE0D-6FCE-2985-8F11-DC74CD7F07B4}"/>
              </a:ext>
            </a:extLst>
          </p:cNvPr>
          <p:cNvSpPr>
            <a:spLocks noGrp="1"/>
          </p:cNvSpPr>
          <p:nvPr>
            <p:ph type="sldNum" sz="quarter" idx="12"/>
          </p:nvPr>
        </p:nvSpPr>
        <p:spPr/>
        <p:txBody>
          <a:bodyPr/>
          <a:lstStyle/>
          <a:p>
            <a:fld id="{E4D355CA-84B7-41B1-B164-8BB439CC7C6B}" type="slidenum">
              <a:rPr lang="en-GB" smtClean="0"/>
              <a:pPr/>
              <a:t>7</a:t>
            </a:fld>
            <a:endParaRPr lang="en-GB"/>
          </a:p>
        </p:txBody>
      </p:sp>
      <p:pic>
        <p:nvPicPr>
          <p:cNvPr id="8" name="Picture 7">
            <a:extLst>
              <a:ext uri="{FF2B5EF4-FFF2-40B4-BE49-F238E27FC236}">
                <a16:creationId xmlns:a16="http://schemas.microsoft.com/office/drawing/2014/main" id="{8DEB1ED0-77B4-04AA-CE02-CC69F91E5654}"/>
              </a:ext>
            </a:extLst>
          </p:cNvPr>
          <p:cNvPicPr>
            <a:picLocks noChangeAspect="1"/>
          </p:cNvPicPr>
          <p:nvPr/>
        </p:nvPicPr>
        <p:blipFill>
          <a:blip r:embed="rId2"/>
          <a:stretch>
            <a:fillRect/>
          </a:stretch>
        </p:blipFill>
        <p:spPr>
          <a:xfrm>
            <a:off x="1378642" y="4158666"/>
            <a:ext cx="9107169" cy="1749789"/>
          </a:xfrm>
          <a:prstGeom prst="rect">
            <a:avLst/>
          </a:prstGeom>
        </p:spPr>
      </p:pic>
    </p:spTree>
    <p:extLst>
      <p:ext uri="{BB962C8B-B14F-4D97-AF65-F5344CB8AC3E}">
        <p14:creationId xmlns:p14="http://schemas.microsoft.com/office/powerpoint/2010/main" val="2917341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3B0A-9FE3-7329-14DA-9A23C0CA27D5}"/>
              </a:ext>
            </a:extLst>
          </p:cNvPr>
          <p:cNvSpPr>
            <a:spLocks noGrp="1"/>
          </p:cNvSpPr>
          <p:nvPr>
            <p:ph type="title"/>
          </p:nvPr>
        </p:nvSpPr>
        <p:spPr>
          <a:xfrm>
            <a:off x="1078691" y="782793"/>
            <a:ext cx="10279150" cy="365125"/>
          </a:xfrm>
        </p:spPr>
        <p:txBody>
          <a:bodyPr/>
          <a:lstStyle/>
          <a:p>
            <a:r>
              <a:rPr lang="en-IN" dirty="0"/>
              <a:t>Statistical Tests &amp; Results</a:t>
            </a:r>
          </a:p>
        </p:txBody>
      </p:sp>
      <p:sp>
        <p:nvSpPr>
          <p:cNvPr id="3" name="Content Placeholder 2">
            <a:extLst>
              <a:ext uri="{FF2B5EF4-FFF2-40B4-BE49-F238E27FC236}">
                <a16:creationId xmlns:a16="http://schemas.microsoft.com/office/drawing/2014/main" id="{9FEE6EF3-0065-C477-FA89-F71EFA1CACB8}"/>
              </a:ext>
            </a:extLst>
          </p:cNvPr>
          <p:cNvSpPr>
            <a:spLocks noGrp="1"/>
          </p:cNvSpPr>
          <p:nvPr>
            <p:ph sz="half" idx="1"/>
          </p:nvPr>
        </p:nvSpPr>
        <p:spPr>
          <a:xfrm>
            <a:off x="1078691" y="1387407"/>
            <a:ext cx="9810982" cy="2124720"/>
          </a:xfrm>
        </p:spPr>
        <p:txBody>
          <a:bodyPr/>
          <a:lstStyle/>
          <a:p>
            <a:r>
              <a:rPr lang="en-US" b="1" dirty="0"/>
              <a:t>T-TEST (Welch Two Sample t-test)</a:t>
            </a:r>
            <a:endParaRPr lang="en-IN" b="1" dirty="0"/>
          </a:p>
          <a:p>
            <a:r>
              <a:rPr lang="en-IN" dirty="0"/>
              <a:t>Interpretation : </a:t>
            </a:r>
            <a:r>
              <a:rPr lang="en-US" dirty="0"/>
              <a:t>“Because p &lt; 0.001, we reject the null hypothesis.</a:t>
            </a:r>
            <a:br>
              <a:rPr lang="en-US" dirty="0"/>
            </a:br>
            <a:r>
              <a:rPr lang="en-US" dirty="0"/>
              <a:t>There is a statistically significant difference in mean account balance between customers who exited and those who remained.</a:t>
            </a:r>
          </a:p>
          <a:p>
            <a:pPr latinLnBrk="1"/>
            <a:r>
              <a:rPr lang="en-US" dirty="0"/>
              <a:t>R Code : &gt; </a:t>
            </a:r>
            <a:r>
              <a:rPr lang="en-US" dirty="0" err="1"/>
              <a:t>t_test_result</a:t>
            </a:r>
            <a:r>
              <a:rPr lang="en-US" dirty="0"/>
              <a:t> &lt;- t.test(Balance ~ Exited)</a:t>
            </a:r>
          </a:p>
          <a:p>
            <a:pPr latinLnBrk="1"/>
            <a:r>
              <a:rPr lang="en-US" dirty="0"/>
              <a:t>                &gt; </a:t>
            </a:r>
            <a:r>
              <a:rPr lang="en-US" dirty="0" err="1"/>
              <a:t>t_test_result</a:t>
            </a:r>
            <a:endParaRPr lang="en-US" dirty="0"/>
          </a:p>
          <a:p>
            <a:endParaRPr lang="en-US" dirty="0"/>
          </a:p>
          <a:p>
            <a:endParaRPr lang="en-US" dirty="0"/>
          </a:p>
          <a:p>
            <a:endParaRPr lang="en-IN" dirty="0"/>
          </a:p>
        </p:txBody>
      </p:sp>
      <p:sp>
        <p:nvSpPr>
          <p:cNvPr id="6" name="Slide Number Placeholder 5">
            <a:extLst>
              <a:ext uri="{FF2B5EF4-FFF2-40B4-BE49-F238E27FC236}">
                <a16:creationId xmlns:a16="http://schemas.microsoft.com/office/drawing/2014/main" id="{EF172393-D2D6-4A2B-AE7C-8995F4068B8E}"/>
              </a:ext>
            </a:extLst>
          </p:cNvPr>
          <p:cNvSpPr>
            <a:spLocks noGrp="1"/>
          </p:cNvSpPr>
          <p:nvPr>
            <p:ph type="sldNum" sz="quarter" idx="12"/>
          </p:nvPr>
        </p:nvSpPr>
        <p:spPr/>
        <p:txBody>
          <a:bodyPr/>
          <a:lstStyle/>
          <a:p>
            <a:fld id="{E4D355CA-84B7-41B1-B164-8BB439CC7C6B}" type="slidenum">
              <a:rPr lang="en-GB" smtClean="0"/>
              <a:pPr/>
              <a:t>8</a:t>
            </a:fld>
            <a:endParaRPr lang="en-GB"/>
          </a:p>
        </p:txBody>
      </p:sp>
      <p:pic>
        <p:nvPicPr>
          <p:cNvPr id="12" name="Picture 11">
            <a:extLst>
              <a:ext uri="{FF2B5EF4-FFF2-40B4-BE49-F238E27FC236}">
                <a16:creationId xmlns:a16="http://schemas.microsoft.com/office/drawing/2014/main" id="{131E4B07-2935-6119-F2A8-97B3B7335D14}"/>
              </a:ext>
            </a:extLst>
          </p:cNvPr>
          <p:cNvPicPr>
            <a:picLocks noChangeAspect="1"/>
          </p:cNvPicPr>
          <p:nvPr/>
        </p:nvPicPr>
        <p:blipFill>
          <a:blip r:embed="rId2"/>
          <a:stretch>
            <a:fillRect/>
          </a:stretch>
        </p:blipFill>
        <p:spPr>
          <a:xfrm>
            <a:off x="1111599" y="3607947"/>
            <a:ext cx="10246242" cy="2391140"/>
          </a:xfrm>
          <a:prstGeom prst="rect">
            <a:avLst/>
          </a:prstGeom>
        </p:spPr>
      </p:pic>
    </p:spTree>
    <p:extLst>
      <p:ext uri="{BB962C8B-B14F-4D97-AF65-F5344CB8AC3E}">
        <p14:creationId xmlns:p14="http://schemas.microsoft.com/office/powerpoint/2010/main" val="179011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A16F-4EF6-1140-BDD8-B2DFD4D4722E}"/>
              </a:ext>
            </a:extLst>
          </p:cNvPr>
          <p:cNvSpPr>
            <a:spLocks noGrp="1"/>
          </p:cNvSpPr>
          <p:nvPr>
            <p:ph type="title"/>
          </p:nvPr>
        </p:nvSpPr>
        <p:spPr>
          <a:xfrm>
            <a:off x="1116560" y="783355"/>
            <a:ext cx="10279150" cy="365125"/>
          </a:xfrm>
        </p:spPr>
        <p:txBody>
          <a:bodyPr/>
          <a:lstStyle/>
          <a:p>
            <a:r>
              <a:rPr lang="en-IN" dirty="0"/>
              <a:t>Conclusion</a:t>
            </a:r>
          </a:p>
        </p:txBody>
      </p:sp>
      <p:sp>
        <p:nvSpPr>
          <p:cNvPr id="3" name="Content Placeholder 2">
            <a:extLst>
              <a:ext uri="{FF2B5EF4-FFF2-40B4-BE49-F238E27FC236}">
                <a16:creationId xmlns:a16="http://schemas.microsoft.com/office/drawing/2014/main" id="{7DC195F5-11D0-C79E-5D64-73CBC5C51C48}"/>
              </a:ext>
            </a:extLst>
          </p:cNvPr>
          <p:cNvSpPr>
            <a:spLocks noGrp="1"/>
          </p:cNvSpPr>
          <p:nvPr>
            <p:ph idx="1"/>
          </p:nvPr>
        </p:nvSpPr>
        <p:spPr>
          <a:xfrm>
            <a:off x="1116560" y="1615240"/>
            <a:ext cx="9917200" cy="2580840"/>
          </a:xfrm>
        </p:spPr>
        <p:txBody>
          <a:bodyPr/>
          <a:lstStyle/>
          <a:p>
            <a:r>
              <a:rPr lang="en-US" dirty="0"/>
              <a:t>Both the Wilcoxon test and the Welch t-test indicate p &lt; 0.001, therefore we reject the null hypothesis and conclude that customers who exited the bank have significantly different account balances compared to those who remained.</a:t>
            </a:r>
            <a:endParaRPr lang="en-IN" dirty="0"/>
          </a:p>
        </p:txBody>
      </p:sp>
      <p:sp>
        <p:nvSpPr>
          <p:cNvPr id="5" name="Slide Number Placeholder 4">
            <a:extLst>
              <a:ext uri="{FF2B5EF4-FFF2-40B4-BE49-F238E27FC236}">
                <a16:creationId xmlns:a16="http://schemas.microsoft.com/office/drawing/2014/main" id="{59EE2327-CCF0-FD5D-2C38-F26AEDC83717}"/>
              </a:ext>
            </a:extLst>
          </p:cNvPr>
          <p:cNvSpPr>
            <a:spLocks noGrp="1"/>
          </p:cNvSpPr>
          <p:nvPr>
            <p:ph type="sldNum" sz="quarter" idx="12"/>
          </p:nvPr>
        </p:nvSpPr>
        <p:spPr/>
        <p:txBody>
          <a:bodyPr/>
          <a:lstStyle/>
          <a:p>
            <a:fld id="{E4D355CA-84B7-41B1-B164-8BB439CC7C6B}" type="slidenum">
              <a:rPr lang="en-GB" smtClean="0"/>
              <a:pPr/>
              <a:t>9</a:t>
            </a:fld>
            <a:endParaRPr lang="en-GB"/>
          </a:p>
        </p:txBody>
      </p:sp>
    </p:spTree>
    <p:extLst>
      <p:ext uri="{BB962C8B-B14F-4D97-AF65-F5344CB8AC3E}">
        <p14:creationId xmlns:p14="http://schemas.microsoft.com/office/powerpoint/2010/main" val="1556727379"/>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88</TotalTime>
  <Words>631</Words>
  <Application>Microsoft Office PowerPoint</Application>
  <PresentationFormat>Widescreen</PresentationFormat>
  <Paragraphs>70</Paragraphs>
  <Slides>9</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Herts Theme</vt:lpstr>
      <vt:lpstr>Visualization and Analysis –  Tutorial Presentation for Feedback Date:  </vt:lpstr>
      <vt:lpstr>PowerPoint Presentation</vt:lpstr>
      <vt:lpstr>PowerPoint Presentation</vt:lpstr>
      <vt:lpstr>1. Boxplot of Account Balance (euros) by customer exit status – Dependent variable Balance, Independent variable Exited. Y axis Label - Balance (euros) X axis label – Customer exit status (0 = Remained, 1 = Exited)  </vt:lpstr>
      <vt:lpstr>2. Histogram of Balance (euros) with Normal Curve – Dependent variable Balance. X axis label - Balance(euros) Y axis label - Density </vt:lpstr>
      <vt:lpstr>PowerPoint Presentation</vt:lpstr>
      <vt:lpstr>Statistical Tests &amp; Results</vt:lpstr>
      <vt:lpstr>Statistical Tests &amp;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Swarna Lalitha Mahalakshmi Kommana</cp:lastModifiedBy>
  <cp:revision>11</cp:revision>
  <dcterms:created xsi:type="dcterms:W3CDTF">2019-10-01T08:37:56Z</dcterms:created>
  <dcterms:modified xsi:type="dcterms:W3CDTF">2025-12-07T21:44:11Z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